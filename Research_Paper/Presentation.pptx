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21071D7-67A2-4E59-A221-927B161FCB9B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4A734-DA2F-7B5E-A326-7A5F3606FB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A4E7A4-54CE-819F-54F3-E5DA423D79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7EA86-517C-E4C3-A4A6-C2312890E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75560F-9ACE-E10E-5E4A-FC55E4365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4347D-CC72-FB1E-D20A-23C8B4060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1736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81641-7AEE-8494-4AF9-6DFD29A7F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5DBEA-00A6-1169-D396-8865AB543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97FEE-94F0-7953-FE2C-60749B274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62A8A-DCD2-CD7D-8BB4-0F930C03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35CAB-9026-6AB0-F6C5-385A728A2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6000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A80C8-D42B-7F7C-C3D2-C6093BEEB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3BC71E-F937-F132-E7FC-AA6B14620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D077F-A68F-6FCD-8B72-E77321220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5E0D0-0BF2-A622-0A7E-16D28E0F8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E97C0-0D17-51BD-3705-D7862CBC1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8871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BD4DD-1DBF-8894-9FB2-F9D28F671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C25C1-FDA4-ECF0-6611-30505B188A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BD51AE-0DC7-F890-D416-3C15E44A5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286AAA-6116-3EDC-1759-D0CD0E159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52B9B9-6551-C1BF-6B26-C9254E628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7714B1-95A4-802E-F2CA-14DBCBEB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9559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1C629-45FB-C68D-E01C-D33C5398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02774-29C1-B12D-7C55-2919ED70C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4A6A70-1950-59B4-53DD-3EB734676E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4674B6-182E-47AC-FC54-D54B74A6C7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2F7351-E374-9DD5-2DF5-24F8A88903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9D5EE7-9678-F4E4-9D50-A9459348C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40FC5-8BFE-F64F-7F20-2ACB529BD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A7818F-E01C-5A7E-8696-CF09267FB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3199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E09EA-CC40-83AC-72C2-8B68BA76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55FE5B-D065-7EB8-260D-9A1A8A670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AC3B3F-D4CA-F668-488C-43AFD7749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B41A2F-5529-A7DA-28A5-D0CD19641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6055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5B445E-3428-7D97-73C3-C90675466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93F488-35CC-1B06-7CBF-F5A849BC8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01230-FDC1-8042-B276-CDE476D9A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2982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22B2B-0113-2D09-A374-D12ECA807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6ECDA-1AED-D501-6B10-21B56EBD6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93A713-B0C3-F20C-5812-29955CD313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106E31-33AD-E84C-8660-15923BCF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3687C1-074C-009D-67DA-1E850E55B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CC6230-D250-8090-0F36-3862275E0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566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2C0E2-0115-6D6A-3B92-76E07BD93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7CDDD9-D9E3-836A-ABE6-CC555F794E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7AB49-6B89-1A8B-5984-FCF7A276C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5B8BFC-DC50-E43E-4873-4D3BA4D68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0F397D-14FD-B11E-3D59-3537AEC3C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67AD88-32C2-6CFD-0FFC-0A2701F5B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3964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3E518-3C72-8E46-64B7-EAD395DD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9E9570-BB8F-6C61-1276-7909A8D3AD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04C056-B175-B181-B73A-C789F2598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701B4-E9FB-C867-5D7D-20CE42D70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B38BFB-428A-9A3E-9F88-1AB0E658C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9713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6DCCA4-BD9A-9499-341C-E68BB2141E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39685D-3877-4393-6D19-66A069D7C4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9872C-7224-68CA-D064-7C6D0229A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BBC73-79C4-72D6-9142-EFEEAA0BA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3C62F2-A489-A6E6-9B13-59234123B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6158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11521-736F-BFEA-4486-604051434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BD3210-B549-6DB2-C406-0EB8F1401F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B315C3-A2B9-AEE1-E782-172FB39D1E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D8912F-0E63-4743-8FC2-51EE9458E9B8}" type="datetimeFigureOut">
              <a:rPr lang="en-IN" smtClean="0"/>
              <a:t>07-09-2025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893CD4-AB8F-85D9-8EB6-F3026681BF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76C3A-FAC0-0782-4042-A26CD84858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14612-158B-4257-8821-C04B6A7E46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4394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FCA6763C-409D-791B-75CC-BB34848B6D11}"/>
              </a:ext>
            </a:extLst>
          </p:cNvPr>
          <p:cNvGrpSpPr/>
          <p:nvPr/>
        </p:nvGrpSpPr>
        <p:grpSpPr>
          <a:xfrm>
            <a:off x="336550" y="1963912"/>
            <a:ext cx="6391077" cy="1416292"/>
            <a:chOff x="336550" y="1963912"/>
            <a:chExt cx="6391077" cy="141629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3AD10E6-4CE1-ECBD-2CEC-BBBA9872BA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9017" y="1996954"/>
              <a:ext cx="987544" cy="987544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460F932-2D30-62B3-FFF3-D237358D7120}"/>
                </a:ext>
              </a:extLst>
            </p:cNvPr>
            <p:cNvCxnSpPr>
              <a:cxnSpLocks/>
            </p:cNvCxnSpPr>
            <p:nvPr/>
          </p:nvCxnSpPr>
          <p:spPr>
            <a:xfrm>
              <a:off x="1624730" y="2486260"/>
              <a:ext cx="1091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CFC0B2-8938-0C54-E3F6-0817A51C8EC0}"/>
                </a:ext>
              </a:extLst>
            </p:cNvPr>
            <p:cNvSpPr txBox="1"/>
            <p:nvPr/>
          </p:nvSpPr>
          <p:spPr>
            <a:xfrm>
              <a:off x="1576470" y="2178452"/>
              <a:ext cx="118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200" b="1" dirty="0"/>
                <a:t>Data Ingestion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BEE37F5-742F-FA94-0E12-6F5E45A7F04D}"/>
                </a:ext>
              </a:extLst>
            </p:cNvPr>
            <p:cNvSpPr txBox="1"/>
            <p:nvPr/>
          </p:nvSpPr>
          <p:spPr>
            <a:xfrm>
              <a:off x="336550" y="3041650"/>
              <a:ext cx="1346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600" b="1" dirty="0"/>
                <a:t>PostgreSQL</a:t>
              </a: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8B1130C-4804-6830-1B89-FB8AE4C6D703}"/>
                </a:ext>
              </a:extLst>
            </p:cNvPr>
            <p:cNvGrpSpPr/>
            <p:nvPr/>
          </p:nvGrpSpPr>
          <p:grpSpPr>
            <a:xfrm>
              <a:off x="4742180" y="1963912"/>
              <a:ext cx="1985447" cy="1416292"/>
              <a:chOff x="2364323" y="1963912"/>
              <a:chExt cx="1985447" cy="1416292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5E6501E6-6010-5414-49F1-270D46C4F5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72374" y="1963912"/>
                <a:ext cx="1044696" cy="1044696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2EFBDBC-CA8D-0BAD-1BB2-9579A8C111EF}"/>
                  </a:ext>
                </a:extLst>
              </p:cNvPr>
              <p:cNvSpPr txBox="1"/>
              <p:nvPr/>
            </p:nvSpPr>
            <p:spPr>
              <a:xfrm>
                <a:off x="2364323" y="3041650"/>
                <a:ext cx="198544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N" sz="1600" b="1" dirty="0"/>
                  <a:t>Feature Engineering</a:t>
                </a:r>
              </a:p>
            </p:txBody>
          </p:sp>
        </p:grp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A2500288-DC5D-3736-F804-518F9E874B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87821" y="1992488"/>
              <a:ext cx="936746" cy="987544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B9FCCF6-C07E-B8BE-C5E7-164DEF23E6EA}"/>
                </a:ext>
              </a:extLst>
            </p:cNvPr>
            <p:cNvSpPr txBox="1"/>
            <p:nvPr/>
          </p:nvSpPr>
          <p:spPr>
            <a:xfrm>
              <a:off x="2764790" y="3041650"/>
              <a:ext cx="13462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600" b="1" dirty="0"/>
                <a:t>Data Frame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E06F637-357F-94E7-0968-33FF3A570101}"/>
                </a:ext>
              </a:extLst>
            </p:cNvPr>
            <p:cNvCxnSpPr>
              <a:cxnSpLocks/>
            </p:cNvCxnSpPr>
            <p:nvPr/>
          </p:nvCxnSpPr>
          <p:spPr>
            <a:xfrm>
              <a:off x="3923430" y="2455451"/>
              <a:ext cx="1091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3F122E1A-C7AA-C44F-BD3B-A5D5B6D5F4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0591" y="1963911"/>
            <a:ext cx="1106546" cy="1061747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1838-9905-7E4B-B1C5-DAFB34F6212F}"/>
              </a:ext>
            </a:extLst>
          </p:cNvPr>
          <p:cNvCxnSpPr>
            <a:cxnSpLocks/>
          </p:cNvCxnSpPr>
          <p:nvPr/>
        </p:nvCxnSpPr>
        <p:spPr>
          <a:xfrm>
            <a:off x="6317380" y="2486260"/>
            <a:ext cx="1091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54D0BDB-369D-79FA-660D-F558B9C729E8}"/>
              </a:ext>
            </a:extLst>
          </p:cNvPr>
          <p:cNvSpPr txBox="1"/>
          <p:nvPr/>
        </p:nvSpPr>
        <p:spPr>
          <a:xfrm>
            <a:off x="7088288" y="3041650"/>
            <a:ext cx="19854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Splitting into X and 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EB1782-68B1-9A98-A847-9632F6AD64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3713" y="1972672"/>
            <a:ext cx="1106546" cy="1061747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EE87B7D-1045-FEB1-5F1D-29F86DC8DC63}"/>
              </a:ext>
            </a:extLst>
          </p:cNvPr>
          <p:cNvCxnSpPr>
            <a:cxnSpLocks/>
          </p:cNvCxnSpPr>
          <p:nvPr/>
        </p:nvCxnSpPr>
        <p:spPr>
          <a:xfrm>
            <a:off x="8721913" y="2494784"/>
            <a:ext cx="1091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3EEC8CD-FD4D-BE4C-4DF3-EB5474A79AF4}"/>
              </a:ext>
            </a:extLst>
          </p:cNvPr>
          <p:cNvSpPr txBox="1"/>
          <p:nvPr/>
        </p:nvSpPr>
        <p:spPr>
          <a:xfrm>
            <a:off x="9374262" y="3041650"/>
            <a:ext cx="19854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Data Transformation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F96B15-16EE-E1B5-0AB1-6A545AC22720}"/>
              </a:ext>
            </a:extLst>
          </p:cNvPr>
          <p:cNvCxnSpPr>
            <a:cxnSpLocks/>
          </p:cNvCxnSpPr>
          <p:nvPr/>
        </p:nvCxnSpPr>
        <p:spPr>
          <a:xfrm>
            <a:off x="10482980" y="3380204"/>
            <a:ext cx="0" cy="10950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14D1C93-DE70-2767-8A2B-ABB53DFEBC96}"/>
              </a:ext>
            </a:extLst>
          </p:cNvPr>
          <p:cNvSpPr txBox="1"/>
          <p:nvPr/>
        </p:nvSpPr>
        <p:spPr>
          <a:xfrm>
            <a:off x="8721913" y="3757792"/>
            <a:ext cx="19854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Train Test Split</a:t>
            </a:r>
          </a:p>
        </p:txBody>
      </p:sp>
    </p:spTree>
    <p:extLst>
      <p:ext uri="{BB962C8B-B14F-4D97-AF65-F5344CB8AC3E}">
        <p14:creationId xmlns:p14="http://schemas.microsoft.com/office/powerpoint/2010/main" val="1713357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534EB6D3-2FC2-F72A-9EC2-1EF145415751}"/>
              </a:ext>
            </a:extLst>
          </p:cNvPr>
          <p:cNvGrpSpPr/>
          <p:nvPr/>
        </p:nvGrpSpPr>
        <p:grpSpPr>
          <a:xfrm>
            <a:off x="291517" y="361951"/>
            <a:ext cx="5086233" cy="2095628"/>
            <a:chOff x="291517" y="361951"/>
            <a:chExt cx="5086233" cy="209562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49B1929-494A-88EB-3C82-51FD3421D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6871" y="361951"/>
              <a:ext cx="558800" cy="5588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9970ACB-0167-32EB-D5E0-EDFE65901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13752" y="361951"/>
              <a:ext cx="558800" cy="558800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B3B21D5-2D5A-5011-AE38-6A1078A0F3D0}"/>
                </a:ext>
              </a:extLst>
            </p:cNvPr>
            <p:cNvCxnSpPr>
              <a:cxnSpLocks/>
            </p:cNvCxnSpPr>
            <p:nvPr/>
          </p:nvCxnSpPr>
          <p:spPr>
            <a:xfrm>
              <a:off x="973692" y="641351"/>
              <a:ext cx="1091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C19B6E-A548-4592-AE68-3D585D0BB0CD}"/>
                </a:ext>
              </a:extLst>
            </p:cNvPr>
            <p:cNvSpPr txBox="1"/>
            <p:nvPr/>
          </p:nvSpPr>
          <p:spPr>
            <a:xfrm>
              <a:off x="925432" y="361955"/>
              <a:ext cx="11883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200" b="1" dirty="0"/>
                <a:t>Data Ingestion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2BBCF80D-61DA-36EA-E9F8-9196CBC7560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20634" y="361951"/>
              <a:ext cx="558800" cy="558800"/>
            </a:xfrm>
            <a:prstGeom prst="rect">
              <a:avLst/>
            </a:prstGeom>
          </p:spPr>
        </p:pic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8B869990-2A99-CFD0-F4CC-0019ECDAE8D0}"/>
                </a:ext>
              </a:extLst>
            </p:cNvPr>
            <p:cNvCxnSpPr>
              <a:cxnSpLocks/>
            </p:cNvCxnSpPr>
            <p:nvPr/>
          </p:nvCxnSpPr>
          <p:spPr>
            <a:xfrm>
              <a:off x="2672552" y="641351"/>
              <a:ext cx="118832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F06E669-BC96-7789-35A4-BECF9E99527C}"/>
                </a:ext>
              </a:extLst>
            </p:cNvPr>
            <p:cNvSpPr txBox="1"/>
            <p:nvPr/>
          </p:nvSpPr>
          <p:spPr>
            <a:xfrm>
              <a:off x="2668083" y="392738"/>
              <a:ext cx="11285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200" b="1" dirty="0"/>
                <a:t>Pre-Processing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EA8F979-05A4-04D1-687E-634F80AA0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20634" y="1642254"/>
              <a:ext cx="558800" cy="558800"/>
            </a:xfrm>
            <a:prstGeom prst="rect">
              <a:avLst/>
            </a:prstGeom>
          </p:spPr>
        </p:pic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B5D45C3-47F7-6949-F4F1-45B8743CA1ED}"/>
                </a:ext>
              </a:extLst>
            </p:cNvPr>
            <p:cNvCxnSpPr>
              <a:cxnSpLocks/>
            </p:cNvCxnSpPr>
            <p:nvPr/>
          </p:nvCxnSpPr>
          <p:spPr>
            <a:xfrm>
              <a:off x="4200034" y="1011854"/>
              <a:ext cx="0" cy="5226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11EF8DC-1457-48D5-011F-50A9024F4C5B}"/>
                </a:ext>
              </a:extLst>
            </p:cNvPr>
            <p:cNvSpPr txBox="1"/>
            <p:nvPr/>
          </p:nvSpPr>
          <p:spPr>
            <a:xfrm>
              <a:off x="4249192" y="1196723"/>
              <a:ext cx="112855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1000" b="1" dirty="0"/>
                <a:t>Model Training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7B01AB8-CF85-3696-595E-E83122B9A599}"/>
                </a:ext>
              </a:extLst>
            </p:cNvPr>
            <p:cNvSpPr txBox="1"/>
            <p:nvPr/>
          </p:nvSpPr>
          <p:spPr>
            <a:xfrm>
              <a:off x="4200034" y="1011854"/>
              <a:ext cx="104947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800" b="1" dirty="0"/>
                <a:t>Experiment Tracking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3FE7E5B6-DCA7-8C9B-D4A7-6BB72B06B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13752" y="1632728"/>
              <a:ext cx="558800" cy="558800"/>
            </a:xfrm>
            <a:prstGeom prst="rect">
              <a:avLst/>
            </a:prstGeom>
          </p:spPr>
        </p:pic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58800A9-828D-7320-D575-49E5E5E02DE9}"/>
                </a:ext>
              </a:extLst>
            </p:cNvPr>
            <p:cNvCxnSpPr>
              <a:cxnSpLocks/>
              <a:endCxn id="27" idx="3"/>
            </p:cNvCxnSpPr>
            <p:nvPr/>
          </p:nvCxnSpPr>
          <p:spPr>
            <a:xfrm flipH="1">
              <a:off x="2672552" y="1912128"/>
              <a:ext cx="115395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829FE75-8007-B2AC-4BC5-719E413626C9}"/>
                </a:ext>
              </a:extLst>
            </p:cNvPr>
            <p:cNvSpPr txBox="1"/>
            <p:nvPr/>
          </p:nvSpPr>
          <p:spPr>
            <a:xfrm>
              <a:off x="2667073" y="1682497"/>
              <a:ext cx="112855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000" b="1" dirty="0"/>
                <a:t>Automation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1525C1B-BDC9-A9E7-4DF7-BC325D7D0C8D}"/>
                </a:ext>
              </a:extLst>
            </p:cNvPr>
            <p:cNvSpPr txBox="1"/>
            <p:nvPr/>
          </p:nvSpPr>
          <p:spPr>
            <a:xfrm>
              <a:off x="2113752" y="2118186"/>
              <a:ext cx="5588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000" b="1" dirty="0"/>
                <a:t>CI / CD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161EDCA-6E94-1EEE-280B-C44330AD5137}"/>
                </a:ext>
              </a:extLst>
            </p:cNvPr>
            <p:cNvCxnSpPr>
              <a:cxnSpLocks/>
              <a:endCxn id="35" idx="3"/>
            </p:cNvCxnSpPr>
            <p:nvPr/>
          </p:nvCxnSpPr>
          <p:spPr>
            <a:xfrm flipH="1" flipV="1">
              <a:off x="915672" y="1905525"/>
              <a:ext cx="1149820" cy="660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B7FB0DDF-97B1-DECB-26A2-5F2AE39549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56871" y="1626124"/>
              <a:ext cx="558801" cy="558801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A4B6BFD-DCB6-62A6-AA9A-790CC4B550D7}"/>
                </a:ext>
              </a:extLst>
            </p:cNvPr>
            <p:cNvSpPr txBox="1"/>
            <p:nvPr/>
          </p:nvSpPr>
          <p:spPr>
            <a:xfrm>
              <a:off x="1113771" y="1665907"/>
              <a:ext cx="8116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000" b="1" dirty="0"/>
                <a:t>Monitoring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1434A90-1780-57BB-D9FF-0957EA69DA3A}"/>
                </a:ext>
              </a:extLst>
            </p:cNvPr>
            <p:cNvSpPr txBox="1"/>
            <p:nvPr/>
          </p:nvSpPr>
          <p:spPr>
            <a:xfrm>
              <a:off x="291517" y="2184925"/>
              <a:ext cx="6241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000" b="1" dirty="0"/>
                <a:t>Grafana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3427D8A-1241-5018-6F2E-C999CBA35A13}"/>
                </a:ext>
              </a:extLst>
            </p:cNvPr>
            <p:cNvSpPr txBox="1"/>
            <p:nvPr/>
          </p:nvSpPr>
          <p:spPr>
            <a:xfrm>
              <a:off x="3881929" y="2211358"/>
              <a:ext cx="63621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000" b="1" dirty="0"/>
                <a:t>MLFlow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EC33183-2382-5576-9B85-5D47C34913E4}"/>
                </a:ext>
              </a:extLst>
            </p:cNvPr>
            <p:cNvSpPr/>
            <p:nvPr/>
          </p:nvSpPr>
          <p:spPr>
            <a:xfrm>
              <a:off x="1107278" y="1017297"/>
              <a:ext cx="2571748" cy="4413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System Architecture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5170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33</Words>
  <Application>Microsoft Office PowerPoint</Application>
  <PresentationFormat>Widescreen</PresentationFormat>
  <Paragraphs>17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Subrat Mishra</dc:creator>
  <cp:lastModifiedBy>Subrat Mishra</cp:lastModifiedBy>
  <cp:revision>2</cp:revision>
  <dcterms:created xsi:type="dcterms:W3CDTF">2025-09-01T15:25:53Z</dcterms:created>
  <dcterms:modified xsi:type="dcterms:W3CDTF">2025-09-06T23:15:08Z</dcterms:modified>
</cp:coreProperties>
</file>